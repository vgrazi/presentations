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3"/>
  </p:notesMasterIdLst>
  <p:sldIdLst>
    <p:sldId id="256" r:id="rId2"/>
    <p:sldId id="263" r:id="rId3"/>
    <p:sldId id="261" r:id="rId4"/>
    <p:sldId id="262" r:id="rId5"/>
    <p:sldId id="280" r:id="rId6"/>
    <p:sldId id="279" r:id="rId7"/>
    <p:sldId id="284" r:id="rId8"/>
    <p:sldId id="258" r:id="rId9"/>
    <p:sldId id="293" r:id="rId10"/>
    <p:sldId id="281" r:id="rId11"/>
    <p:sldId id="259" r:id="rId12"/>
    <p:sldId id="282" r:id="rId13"/>
    <p:sldId id="260" r:id="rId14"/>
    <p:sldId id="265" r:id="rId15"/>
    <p:sldId id="278" r:id="rId16"/>
    <p:sldId id="291" r:id="rId17"/>
    <p:sldId id="277" r:id="rId18"/>
    <p:sldId id="285" r:id="rId19"/>
    <p:sldId id="274" r:id="rId20"/>
    <p:sldId id="276" r:id="rId21"/>
    <p:sldId id="29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BA0000"/>
    <a:srgbClr val="FFBA8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656780-8628-4E88-A240-CABF8E8098E1}" v="803" dt="2025-04-29T19:16:23.2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A995BC-7D57-4B17-BE90-5944E672AF6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139429-98FD-46C3-8AB6-EAFBA76ECF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545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 Classes (JEP 395)</a:t>
            </a:r>
          </a:p>
          <a:p>
            <a:r>
              <a:rPr lang="en-US" dirty="0"/>
              <a:t>Pattern Matching for </a:t>
            </a:r>
            <a:r>
              <a:rPr lang="en-US" dirty="0" err="1"/>
              <a:t>instanceof</a:t>
            </a:r>
            <a:r>
              <a:rPr lang="en-US" dirty="0"/>
              <a:t> (JEP 394)</a:t>
            </a:r>
          </a:p>
          <a:p>
            <a:r>
              <a:rPr lang="en-US" dirty="0"/>
              <a:t>Sealed Classes (JEP 409)</a:t>
            </a:r>
          </a:p>
          <a:p>
            <a:pPr marL="0" indent="0" algn="l" fontAlgn="base">
              <a:spcAft>
                <a:spcPts val="750"/>
              </a:spcAft>
              <a:buNone/>
            </a:pPr>
            <a:endParaRPr lang="en-US" i="1" dirty="0">
              <a:solidFill>
                <a:srgbClr val="273239"/>
              </a:solidFill>
              <a:latin typeface="Nunito" panose="020F0502020204030204" pitchFamily="2" charset="0"/>
            </a:endParaRPr>
          </a:p>
          <a:p>
            <a:pPr algn="l" fontAlgn="base">
              <a:spcAft>
                <a:spcPts val="750"/>
              </a:spcAft>
            </a:pPr>
            <a:endParaRPr lang="en-US" b="0" i="1" dirty="0">
              <a:solidFill>
                <a:srgbClr val="273239"/>
              </a:solidFill>
              <a:effectLst/>
              <a:latin typeface="Nunito" panose="020F0502020204030204" pitchFamily="2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39429-98FD-46C3-8AB6-EAFBA76ECF1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197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Rectangle record</a:t>
            </a:r>
          </a:p>
          <a:p>
            <a:r>
              <a:rPr lang="en-US" dirty="0" err="1"/>
              <a:t>Javap</a:t>
            </a:r>
            <a:r>
              <a:rPr lang="en-US" dirty="0"/>
              <a:t> the record to show it is a class</a:t>
            </a:r>
          </a:p>
          <a:p>
            <a:r>
              <a:rPr lang="en-US" dirty="0"/>
              <a:t>Let IntelliJ convert to a traditional class to compare</a:t>
            </a:r>
          </a:p>
          <a:p>
            <a:r>
              <a:rPr lang="en-US" dirty="0"/>
              <a:t>Print it out</a:t>
            </a:r>
          </a:p>
          <a:p>
            <a:r>
              <a:rPr lang="en-US" dirty="0"/>
              <a:t>Make 2 and show equals</a:t>
            </a:r>
          </a:p>
          <a:p>
            <a:r>
              <a:rPr lang="en-US" dirty="0"/>
              <a:t>Show a canonical constructor and show a square constructor</a:t>
            </a:r>
          </a:p>
          <a:p>
            <a:r>
              <a:rPr lang="en-US" dirty="0"/>
              <a:t>Define an area method</a:t>
            </a:r>
          </a:p>
          <a:p>
            <a:r>
              <a:rPr lang="en-US" dirty="0"/>
              <a:t>Show how non-static fields cannot be created</a:t>
            </a:r>
          </a:p>
          <a:p>
            <a:r>
              <a:rPr lang="en-US" dirty="0"/>
              <a:t>Create a static </a:t>
            </a:r>
            <a:r>
              <a:rPr lang="en-US" dirty="0" err="1"/>
              <a:t>doubleGoldenRatio</a:t>
            </a:r>
            <a:r>
              <a:rPr lang="en-US" dirty="0"/>
              <a:t> and a non-static </a:t>
            </a:r>
            <a:r>
              <a:rPr lang="en-US" dirty="0" err="1"/>
              <a:t>createGoldenRectangle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39429-98FD-46C3-8AB6-EAFBA76ECF1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519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3 canonical constructor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39429-98FD-46C3-8AB6-EAFBA76ECF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819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Display if statement</a:t>
            </a:r>
          </a:p>
          <a:p>
            <a:r>
              <a:rPr lang="en-US" dirty="0"/>
              <a:t>Then traditional switch</a:t>
            </a:r>
          </a:p>
          <a:p>
            <a:r>
              <a:rPr lang="en-US" dirty="0"/>
              <a:t>Then enhanced switch</a:t>
            </a:r>
          </a:p>
          <a:p>
            <a:r>
              <a:rPr lang="en-US" dirty="0"/>
              <a:t>Then switch expression</a:t>
            </a:r>
          </a:p>
          <a:p>
            <a:r>
              <a:rPr lang="en-US" dirty="0"/>
              <a:t>Then pattern switch expression</a:t>
            </a:r>
          </a:p>
          <a:p>
            <a:r>
              <a:rPr lang="en-US" dirty="0"/>
              <a:t>Then add yield</a:t>
            </a:r>
          </a:p>
          <a:p>
            <a:r>
              <a:rPr lang="en-US" dirty="0"/>
              <a:t>Then add </a:t>
            </a:r>
            <a:r>
              <a:rPr lang="en-US" dirty="0" err="1"/>
              <a:t>println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39429-98FD-46C3-8AB6-EAFBA76ECF1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412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F9B48-BC02-C5AF-B828-0931F1427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AA229-EE69-8A89-B0E2-D2E5904BF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5939B-11AB-2BF6-B4AC-80DF00B40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Display if statement</a:t>
            </a:r>
          </a:p>
          <a:p>
            <a:r>
              <a:rPr lang="en-US" dirty="0"/>
              <a:t>Then traditional switch</a:t>
            </a:r>
          </a:p>
          <a:p>
            <a:r>
              <a:rPr lang="en-US" dirty="0"/>
              <a:t>Then enhanced switch</a:t>
            </a:r>
          </a:p>
          <a:p>
            <a:r>
              <a:rPr lang="en-US" dirty="0"/>
              <a:t>Then switch expression</a:t>
            </a:r>
          </a:p>
          <a:p>
            <a:r>
              <a:rPr lang="en-US" dirty="0"/>
              <a:t>Then pattern switch expression</a:t>
            </a:r>
          </a:p>
          <a:p>
            <a:r>
              <a:rPr lang="en-US" dirty="0"/>
              <a:t>Then add yield</a:t>
            </a:r>
          </a:p>
          <a:p>
            <a:r>
              <a:rPr lang="en-US" dirty="0"/>
              <a:t>Then add </a:t>
            </a:r>
            <a:r>
              <a:rPr lang="en-US" dirty="0" err="1"/>
              <a:t>println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854D3-A59D-DBCD-E999-9B33633C3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39429-98FD-46C3-8AB6-EAFBA76ECF1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074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830CD-E748-2079-9CE1-1A1C41BD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D5D43-49EC-A702-0847-DFFAEDB8DC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6DC53-E919-0378-54DA-9E9EDC679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JetBrains Mono"/>
              </a:rPr>
              <a:t>Start with the old way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Ask AI to rewrite using text blocks4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Add white space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Show indents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Move last line """  to be right of opening, then to left of opening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Show how to escape literal instances of """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E52B0-F454-8C01-53CD-660506940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39429-98FD-46C3-8AB6-EAFBA76ECF1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9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JetBrains Mono"/>
              </a:rPr>
              <a:t>Start with the old way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Ask AI to rewrite using text blocks4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Add white space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Show indents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Move last line """  to be right of opening, then to left of opening</a:t>
            </a:r>
          </a:p>
          <a:p>
            <a:pPr marL="0" indent="0">
              <a:buNone/>
            </a:pPr>
            <a:r>
              <a:rPr lang="en-US" dirty="0">
                <a:latin typeface="JetBrains Mono"/>
              </a:rPr>
              <a:t>Show how to escape literal instances of """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39429-98FD-46C3-8AB6-EAFBA76ECF1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9541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6EF1E-2890-4018-841A-495E748CCB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418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6EF1E-2890-4018-841A-495E748CCBC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0208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6EF1E-2890-4018-841A-495E748CCBC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1605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56EF1E-2890-4018-841A-495E748CCBC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455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557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963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08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606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150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11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36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943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0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616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45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06238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9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7243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949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359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371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AF1BF7-3DF1-41E9-BE1F-5D1CC002943C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27A16C-A225-4F5A-9B63-00051AFAA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0166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F53CF-0CAA-4B29-D09F-22C0983205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Upgrading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5E25B9-100E-AFE1-439A-A416C9701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7910"/>
            <a:ext cx="9448800" cy="1336432"/>
          </a:xfrm>
        </p:spPr>
        <p:txBody>
          <a:bodyPr>
            <a:normAutofit fontScale="77500" lnSpcReduction="20000"/>
          </a:bodyPr>
          <a:lstStyle/>
          <a:p>
            <a:r>
              <a:rPr lang="en-US" sz="4300" dirty="0"/>
              <a:t>New Developer Features in Java 17 and 21</a:t>
            </a:r>
          </a:p>
          <a:p>
            <a:r>
              <a:rPr lang="en-US" dirty="0"/>
              <a:t>Victor Grazi</a:t>
            </a:r>
          </a:p>
          <a:p>
            <a:r>
              <a:rPr lang="en-US" dirty="0"/>
              <a:t>BNY – VP Developer Enablement</a:t>
            </a:r>
          </a:p>
        </p:txBody>
      </p:sp>
    </p:spTree>
    <p:extLst>
      <p:ext uri="{BB962C8B-B14F-4D97-AF65-F5344CB8AC3E}">
        <p14:creationId xmlns:p14="http://schemas.microsoft.com/office/powerpoint/2010/main" val="79975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A4128-A5E3-9ECD-CAF7-DFD93CB89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CE42F-DD6A-5DBE-54DA-F0DB08B24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Main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640BE-0472-7163-29C4-D6E74E74C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194561"/>
            <a:ext cx="10820400" cy="4206239"/>
          </a:xfrm>
        </p:spPr>
        <p:txBody>
          <a:bodyPr numCol="2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Java 17</a:t>
            </a:r>
          </a:p>
          <a:p>
            <a:r>
              <a:rPr lang="en-US" dirty="0"/>
              <a:t>Record Classes</a:t>
            </a:r>
          </a:p>
          <a:p>
            <a:r>
              <a:rPr lang="en-US" dirty="0"/>
              <a:t>Sealed Classes</a:t>
            </a:r>
          </a:p>
          <a:p>
            <a:r>
              <a:rPr lang="en-US" dirty="0"/>
              <a:t>Pattern Matching</a:t>
            </a:r>
          </a:p>
          <a:p>
            <a:r>
              <a:rPr lang="en-US" dirty="0"/>
              <a:t>Enhanced Switch Statements</a:t>
            </a:r>
          </a:p>
          <a:p>
            <a:r>
              <a:rPr lang="en-US" dirty="0"/>
              <a:t>Switch Expressions</a:t>
            </a:r>
          </a:p>
          <a:p>
            <a:r>
              <a:rPr lang="en-US" dirty="0"/>
              <a:t>Snippets in </a:t>
            </a:r>
            <a:r>
              <a:rPr lang="en-US" dirty="0" err="1"/>
              <a:t>JavaDoc</a:t>
            </a:r>
            <a:endParaRPr lang="en-US" dirty="0"/>
          </a:p>
          <a:p>
            <a:endParaRPr lang="en-US" dirty="0">
              <a:latin typeface="Nunito" panose="020F0502020204030204" pitchFamily="2" charset="0"/>
            </a:endParaRPr>
          </a:p>
          <a:p>
            <a:endParaRPr lang="en-US" dirty="0">
              <a:latin typeface="Nunito" panose="020F0502020204030204" pitchFamily="2" charset="0"/>
            </a:endParaRPr>
          </a:p>
          <a:p>
            <a:endParaRPr lang="en-US" dirty="0">
              <a:latin typeface="Nunito" panose="020F0502020204030204" pitchFamily="2" charset="0"/>
            </a:endParaRPr>
          </a:p>
          <a:p>
            <a:pPr marL="0" indent="0" algn="ctr">
              <a:buNone/>
            </a:pPr>
            <a:endParaRPr lang="en-US" dirty="0">
              <a:latin typeface="Nunito" panose="020F0502020204030204" pitchFamily="2" charset="0"/>
            </a:endParaRPr>
          </a:p>
          <a:p>
            <a:pPr marL="0" indent="0" algn="ctr">
              <a:buNone/>
            </a:pPr>
            <a:r>
              <a:rPr lang="en-US" dirty="0">
                <a:latin typeface="Nunito" panose="020F0502020204030204" pitchFamily="2" charset="0"/>
              </a:rPr>
              <a:t>Java 21</a:t>
            </a:r>
          </a:p>
          <a:p>
            <a:pPr algn="l" fontAlgn="base">
              <a:spcAft>
                <a:spcPts val="750"/>
              </a:spcAft>
            </a:pPr>
            <a:r>
              <a:rPr lang="en-US" b="0" dirty="0">
                <a:effectLst/>
                <a:latin typeface="Nunito" panose="020F0502020204030204" pitchFamily="2" charset="0"/>
              </a:rPr>
              <a:t>Pattern Matching for Switch</a:t>
            </a:r>
          </a:p>
          <a:p>
            <a:pPr algn="l" fontAlgn="base">
              <a:spcAft>
                <a:spcPts val="750"/>
              </a:spcAft>
            </a:pPr>
            <a:r>
              <a:rPr lang="en-US" dirty="0">
                <a:latin typeface="Nunito" panose="020F0502020204030204" pitchFamily="2" charset="0"/>
              </a:rPr>
              <a:t>Unnamed variables</a:t>
            </a:r>
            <a:endParaRPr lang="en-US" b="0" dirty="0">
              <a:effectLst/>
              <a:latin typeface="Nunito" panose="020F0502020204030204" pitchFamily="2" charset="0"/>
            </a:endParaRPr>
          </a:p>
          <a:p>
            <a:pPr algn="l" fontAlgn="base">
              <a:spcAft>
                <a:spcPts val="750"/>
              </a:spcAft>
            </a:pPr>
            <a:r>
              <a:rPr lang="en-US" b="0" dirty="0">
                <a:effectLst/>
                <a:latin typeface="Nunito" panose="020F0502020204030204" pitchFamily="2" charset="0"/>
              </a:rPr>
              <a:t>Virtual Threads</a:t>
            </a:r>
          </a:p>
          <a:p>
            <a:r>
              <a:rPr lang="en-US" dirty="0"/>
              <a:t>Preview Features</a:t>
            </a:r>
          </a:p>
          <a:p>
            <a:pPr lvl="1"/>
            <a:r>
              <a:rPr lang="en-US" dirty="0"/>
              <a:t>Unnamed classes</a:t>
            </a:r>
          </a:p>
          <a:p>
            <a:pPr lvl="1"/>
            <a:r>
              <a:rPr lang="en-US" dirty="0"/>
              <a:t>Unnamed variables</a:t>
            </a:r>
          </a:p>
          <a:p>
            <a:pPr lvl="1"/>
            <a:r>
              <a:rPr lang="en-US" dirty="0"/>
              <a:t>String Templates</a:t>
            </a:r>
          </a:p>
          <a:p>
            <a:pPr algn="l" fontAlgn="base">
              <a:spcAft>
                <a:spcPts val="750"/>
              </a:spcAft>
            </a:pPr>
            <a:endParaRPr lang="en-US" b="0" dirty="0">
              <a:effectLst/>
              <a:latin typeface="Nunito" panose="020F0502020204030204" pitchFamily="2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397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5CB82-B9BB-9E0F-2DE6-86ADFA6C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27F7C-4189-E7E6-4BFC-8219BB03D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3657600"/>
            <a:ext cx="10820400" cy="2948685"/>
          </a:xfrm>
        </p:spPr>
        <p:txBody>
          <a:bodyPr>
            <a:normAutofit/>
          </a:bodyPr>
          <a:lstStyle/>
          <a:p>
            <a:r>
              <a:rPr lang="en-US" sz="2400" dirty="0"/>
              <a:t>Automatically assigns</a:t>
            </a:r>
          </a:p>
          <a:p>
            <a:pPr lvl="1"/>
            <a:r>
              <a:rPr lang="en-US" sz="2400" dirty="0"/>
              <a:t>equals()</a:t>
            </a:r>
          </a:p>
          <a:p>
            <a:pPr lvl="1"/>
            <a:r>
              <a:rPr lang="en-US" sz="2400" dirty="0"/>
              <a:t>hashCode()</a:t>
            </a:r>
          </a:p>
          <a:p>
            <a:pPr lvl="1"/>
            <a:r>
              <a:rPr lang="en-US" sz="2400" dirty="0" err="1"/>
              <a:t>toString</a:t>
            </a:r>
            <a:r>
              <a:rPr lang="en-US" sz="2400" dirty="0"/>
              <a:t>()</a:t>
            </a:r>
          </a:p>
          <a:p>
            <a:pPr lvl="1"/>
            <a:r>
              <a:rPr lang="en-US" sz="2400" dirty="0"/>
              <a:t>All getters (but not setters – all fields are final)</a:t>
            </a:r>
          </a:p>
          <a:p>
            <a:r>
              <a:rPr lang="en-US" sz="2400" dirty="0"/>
              <a:t>Replace Lombok Data classes for final fields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DEB0222-4935-31E5-C942-B83E84FB81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426" y="1973284"/>
            <a:ext cx="11459149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rgbClr val="CF8E6D"/>
              </a:solidFill>
              <a:effectLst/>
              <a:latin typeface="JetBrains Mono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FFC000"/>
                </a:solidFill>
                <a:effectLst/>
                <a:latin typeface="JetBrains Mono"/>
              </a:rPr>
              <a:t>record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Triangle(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FFC000"/>
                </a:solidFill>
                <a:effectLst/>
                <a:latin typeface="JetBrains Mono"/>
              </a:rPr>
              <a:t>double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base,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FFC000"/>
                </a:solidFill>
                <a:effectLst/>
                <a:latin typeface="JetBrains Mono"/>
              </a:rPr>
              <a:t>double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height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FFC000"/>
                </a:solidFill>
                <a:effectLst/>
                <a:latin typeface="JetBrains Mono"/>
              </a:rPr>
              <a:t>implements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Shape {}</a:t>
            </a:r>
            <a:br>
              <a:rPr lang="en-US" altLang="en-US" sz="6600" dirty="0">
                <a:latin typeface="Arial" panose="020B0604020202020204" pitchFamily="34" charset="0"/>
              </a:rPr>
            </a:br>
            <a:endParaRPr kumimoji="0" lang="en-US" altLang="en-US" sz="3200" b="0" i="0" u="none" strike="noStrike" cap="none" normalizeH="0" baseline="0" dirty="0">
              <a:ln>
                <a:noFill/>
              </a:ln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163629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71555-E3C5-03FD-DFC0-047BBAD30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 Class caveats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68E43-9197-5074-C2BE-00CBE6D3E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Record class can’t extend a class (but can implement an interface)</a:t>
            </a:r>
          </a:p>
          <a:p>
            <a:r>
              <a:rPr lang="en-US" sz="28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Record classes are final – cannot be subclassed</a:t>
            </a:r>
          </a:p>
          <a:p>
            <a:r>
              <a:rPr lang="en-US" sz="28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Cannot have instance fields besides the declared ones</a:t>
            </a:r>
          </a:p>
          <a:p>
            <a:r>
              <a:rPr lang="en-US" sz="28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All fields are final</a:t>
            </a:r>
          </a:p>
        </p:txBody>
      </p:sp>
    </p:spTree>
    <p:extLst>
      <p:ext uri="{BB962C8B-B14F-4D97-AF65-F5344CB8AC3E}">
        <p14:creationId xmlns:p14="http://schemas.microsoft.com/office/powerpoint/2010/main" val="2988284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33F15-733E-5284-41E2-371EA9BEE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54DCC-4AC1-5B1F-B2CC-63F369692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168" y="421238"/>
            <a:ext cx="11727051" cy="1293028"/>
          </a:xfrm>
        </p:spPr>
        <p:txBody>
          <a:bodyPr>
            <a:normAutofit/>
          </a:bodyPr>
          <a:lstStyle/>
          <a:p>
            <a:r>
              <a:rPr lang="en-US" sz="3600" dirty="0"/>
              <a:t>Record Classes can contain implementation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BA679DB9-AECC-168B-4D4A-AD42967F84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5906" y="2111282"/>
            <a:ext cx="10161867" cy="440120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>
                <a:solidFill>
                  <a:srgbClr val="BCBE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  public record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Rectangle(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height,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width)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implements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Shape{</a:t>
            </a:r>
            <a:endParaRPr lang="en-US" altLang="en-US" sz="2000" dirty="0">
              <a:solidFill>
                <a:srgbClr val="BCBEC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BCBE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5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public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56A8F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Rectangle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height)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6    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(height, height);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7      }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8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public double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56A8F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area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9    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return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height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10      }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12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static double 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goldenRatio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= 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+Math.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sqrt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))/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13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public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Rectangle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56A8F5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createGoldenRectangle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14    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return new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Rectangle(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goldenRatio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15      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BCBE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  }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39AF43-783F-2E0E-6922-9C6A11D91F7C}"/>
              </a:ext>
            </a:extLst>
          </p:cNvPr>
          <p:cNvSpPr/>
          <p:nvPr/>
        </p:nvSpPr>
        <p:spPr>
          <a:xfrm>
            <a:off x="1651208" y="2797538"/>
            <a:ext cx="7423639" cy="93171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D20F41-5A40-25EA-8E0D-F676C2BEDBF6}"/>
              </a:ext>
            </a:extLst>
          </p:cNvPr>
          <p:cNvSpPr/>
          <p:nvPr/>
        </p:nvSpPr>
        <p:spPr>
          <a:xfrm>
            <a:off x="1651208" y="3706646"/>
            <a:ext cx="7423639" cy="93171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8813C5-983B-849C-A10D-B42008E80408}"/>
              </a:ext>
            </a:extLst>
          </p:cNvPr>
          <p:cNvSpPr/>
          <p:nvPr/>
        </p:nvSpPr>
        <p:spPr>
          <a:xfrm>
            <a:off x="2224183" y="4932075"/>
            <a:ext cx="2948860" cy="32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016A0-339A-8B06-6B9B-C82E4931BEE1}"/>
              </a:ext>
            </a:extLst>
          </p:cNvPr>
          <p:cNvSpPr txBox="1"/>
          <p:nvPr/>
        </p:nvSpPr>
        <p:spPr>
          <a:xfrm>
            <a:off x="1751567" y="2200185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solidFill>
                  <a:srgbClr val="BCBEC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 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1DDC5C-871E-E749-E3B7-82CB9E30ACEF}"/>
              </a:ext>
            </a:extLst>
          </p:cNvPr>
          <p:cNvSpPr/>
          <p:nvPr/>
        </p:nvSpPr>
        <p:spPr>
          <a:xfrm>
            <a:off x="1651208" y="5258125"/>
            <a:ext cx="7423639" cy="90789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09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4" grpId="0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EBBFF-4EB4-7650-E960-2D38BABDE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34909"/>
            <a:ext cx="8610600" cy="1293028"/>
          </a:xfrm>
        </p:spPr>
        <p:txBody>
          <a:bodyPr/>
          <a:lstStyle/>
          <a:p>
            <a:r>
              <a:rPr lang="en-US" dirty="0"/>
              <a:t>Sealed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F0A2D-0AEA-B934-7415-8A0F55C1D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465096"/>
            <a:ext cx="10820400" cy="4024125"/>
          </a:xfrm>
        </p:spPr>
        <p:txBody>
          <a:bodyPr/>
          <a:lstStyle/>
          <a:p>
            <a:r>
              <a:rPr lang="en-US" dirty="0"/>
              <a:t>Sealed classes are used to restrict which classes can extend them.</a:t>
            </a:r>
          </a:p>
          <a:p>
            <a:r>
              <a:rPr lang="en-US" dirty="0"/>
              <a:t>They can be classes or interfaces but not </a:t>
            </a:r>
            <a:r>
              <a:rPr lang="en-US" dirty="0" err="1"/>
              <a:t>enums</a:t>
            </a:r>
            <a:r>
              <a:rPr lang="en-US" dirty="0"/>
              <a:t> (Enums are final).</a:t>
            </a:r>
          </a:p>
          <a:p>
            <a:endParaRPr lang="en-US" dirty="0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A9F37EC0-BCFE-FB0D-4F03-53BBC11B77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2356114"/>
            <a:ext cx="7220375" cy="44012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sealed interface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Shape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permits </a:t>
            </a:r>
            <a:r>
              <a:rPr lang="en-US" altLang="en-US" sz="1600" dirty="0">
                <a:solidFill>
                  <a:srgbClr val="BCBEC4"/>
                </a:solidFill>
                <a:latin typeface="JetBrains Mono"/>
              </a:rPr>
              <a:t>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ircle, Rectangle { }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record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Circle(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radius)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implements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Shape { }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record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Rectangle(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width,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height)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implements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Shape { }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record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Triangle(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width,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height)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implements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Shape { }  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// Compile error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</a:b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Shape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shape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new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Rectangle(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5.0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7.0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// No need for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default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 case if all permitted types are covered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area =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switch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(shape) {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Circle c -&gt;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Math.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PI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*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c.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radius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*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c.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radius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Rectangle r -&gt;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r.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width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*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r.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height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};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16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"Area = "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+ area);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BA62B2-FDE7-7F9E-447E-B283B5E47583}"/>
              </a:ext>
            </a:extLst>
          </p:cNvPr>
          <p:cNvSpPr/>
          <p:nvPr/>
        </p:nvSpPr>
        <p:spPr>
          <a:xfrm>
            <a:off x="4310584" y="2399167"/>
            <a:ext cx="2892669" cy="2989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8A4EEF-65C7-1A63-1530-FBCC4050D2C6}"/>
              </a:ext>
            </a:extLst>
          </p:cNvPr>
          <p:cNvSpPr/>
          <p:nvPr/>
        </p:nvSpPr>
        <p:spPr>
          <a:xfrm>
            <a:off x="6678202" y="3380309"/>
            <a:ext cx="3327426" cy="2989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A01B57-49CB-442E-20A3-4164E8E52449}"/>
              </a:ext>
            </a:extLst>
          </p:cNvPr>
          <p:cNvSpPr/>
          <p:nvPr/>
        </p:nvSpPr>
        <p:spPr>
          <a:xfrm>
            <a:off x="2895600" y="4368200"/>
            <a:ext cx="5344274" cy="1214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7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4657-5C6E-A29B-6DBC-6EF5E928F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92B1E-B0DE-6939-2106-B6E5D5DA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3A40C-D447-C399-53D4-A5E37877E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Combine conditional logic with type testing and extraction of values</a:t>
            </a:r>
          </a:p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73FD3DD-3D2D-2A71-A660-77966CCC19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D1B1A"/>
              </a:clrFrom>
              <a:clrTo>
                <a:srgbClr val="1D1B1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11493" y="2682219"/>
            <a:ext cx="7169015" cy="1603963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55434F-7BA0-F73C-D4C3-75B152F202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D1B1A"/>
              </a:clrFrom>
              <a:clrTo>
                <a:srgbClr val="1D1B1A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00299" y="4516586"/>
            <a:ext cx="9191402" cy="2189758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89439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AE6CA-7B5A-9694-24FA-98E2824A3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Enhanced Switch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429A1-38C2-78DD-D90D-075630268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Enhanced Switch (assignment is internal)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05FE7D9-3654-5225-A15E-A07A9A9DF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2075" y="2739989"/>
            <a:ext cx="9886950" cy="381642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Area calculation using enhanced switch (Java 12+)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static double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calculateArea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(String shape,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param1,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param2)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JetBrains Mono"/>
              </a:rPr>
              <a:t>rval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switch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(shape)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"circle"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JetBrains Mono"/>
              </a:rPr>
              <a:t>rval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Math.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PI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* param1 * param1;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Circle area: πr²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rectangle"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"square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JetBrains Mono"/>
              </a:rPr>
              <a:t>rval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param1 * param2;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Rectangle area: width × height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"triangle"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JetBrains Mono"/>
              </a:rPr>
              <a:t>rval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0.5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* param1 * param2;   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Triangle area: ½ × base × height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default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throw new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IllegalArgumentException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"Invalid shape: 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+ shape);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}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return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JetBrains Mono"/>
              </a:rPr>
              <a:t>rval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746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1DD10-4E0B-D382-D8DA-2BB8A759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5BF41-B140-67E7-B9C1-CC92A63F4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A1DD9-EA40-7389-5038-69ADFABF8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Switch Expression (value is returned)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6D89FF4-8973-4834-68B1-229EDE0591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8193" y="3203142"/>
            <a:ext cx="9452588" cy="258532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Area calculation using switch expression (Java 14+)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static double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calculateAreaSwitchExpression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(String shape,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param1,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double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param2)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return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switch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(shape) {</a:t>
            </a:r>
            <a:b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"circle"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Math.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PI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* param1 * param1;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Circle area: πr²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rectangle"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"square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param1 * param2;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Rectangle area: width × height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case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"triangle"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0.5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* param1 * param2;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Triangle area: ½ × base × height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default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-&gt;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throw new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IllegalArgumentException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"Invalid shape: 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+ shape);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};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447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26EF-2F84-DCDC-D5AA-1685FE50E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85436-AB58-BAAD-9980-D276ED9F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TextBlocks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2CB8AC4-3601-B07A-6F73-9E6E32A71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98B4DEE-2E9D-CB10-695E-05D9D7398D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5800" y="1944466"/>
            <a:ext cx="6031716" cy="452431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String html =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"""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              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&lt;!DOCTYPE html&gt;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&lt;html&gt;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    &lt;head&gt;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        &lt;title&gt;Sample Page&lt;/title&gt;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    &lt;/head&gt;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    &lt;body&gt;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        &lt;h1&gt;Hello, World!&lt;/h1&gt;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        &lt;p&gt;This is a text block demo.&lt;/p&gt;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    &lt;/body&gt;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&lt;/html&gt;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92D050"/>
                </a:solidFill>
                <a:effectLst/>
                <a:latin typeface="JetBrains Mono"/>
              </a:rPr>
              <a:t>                """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;</a:t>
            </a:r>
            <a:endParaRPr kumimoji="0" lang="en-US" altLang="en-US" sz="5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69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0DF2-9842-8517-A2EE-4314ACC25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TextBlocks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C9C98-533A-9AF9-6BB8-871CB9BAF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</a:rPr>
              <a:t>Indents start from the first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JetBrains Mono"/>
              </a:rPr>
              <a:t>" in """</a:t>
            </a:r>
          </a:p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Trailing spaces are trimmed</a:t>
            </a:r>
          </a:p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Terminating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JetBrains Mono"/>
              </a:rPr>
              <a:t>""" can be on the same line as the last string line</a:t>
            </a:r>
            <a:endParaRPr lang="en-US" sz="2400" dirty="0">
              <a:solidFill>
                <a:schemeClr val="accent2">
                  <a:lumMod val="50000"/>
                </a:schemeClr>
              </a:solidFill>
              <a:latin typeface="JetBrains Mono"/>
            </a:endParaRPr>
          </a:p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Leading whitespace is trimmed by the closing """</a:t>
            </a:r>
          </a:p>
          <a:p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(For literal instances of """ need to escape one ".  Becomes \""" 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4C7CD00-C345-91C1-64C3-3F8C01791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1153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AD7F5-E4D0-1E49-A242-1D4C752CB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117103"/>
            <a:ext cx="8610600" cy="1293028"/>
          </a:xfrm>
        </p:spPr>
        <p:txBody>
          <a:bodyPr/>
          <a:lstStyle/>
          <a:p>
            <a:r>
              <a:rPr lang="en-US" dirty="0"/>
              <a:t>Snippets in </a:t>
            </a:r>
            <a:r>
              <a:rPr lang="en-US" dirty="0" err="1"/>
              <a:t>JavaDoc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116B38-D4DC-59E5-12B7-B1140B4742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579652" y="1536174"/>
            <a:ext cx="10125075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/**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 The following code shows how to use {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67A37C"/>
                </a:solidFill>
                <a:effectLst/>
                <a:latin typeface="JetBrains Mono"/>
              </a:rPr>
              <a:t>@code 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calculateArea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()}: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1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 {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solidFill>
                  <a:srgbClr val="67A37C"/>
                </a:solidFill>
                <a:effectLst/>
                <a:latin typeface="JetBrains Mono"/>
              </a:rPr>
              <a:t>@snippet 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:</a:t>
            </a:r>
            <a:br>
              <a:rPr kumimoji="0" lang="en-US" altLang="en-US" sz="2000" b="1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 {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   double area = 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calculateArea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(circle);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   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System.out.println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("area of " + circle + "=" + area);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 }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1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*}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  <a:t> */</a:t>
            </a:r>
            <a:b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5F826B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static double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calculateArea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(Shape shape)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return switch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(shape)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	. . .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1227ED-AF67-F5D5-FC69-116CB41DA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238" y="3008384"/>
            <a:ext cx="6904013" cy="303776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2E5E66EE-B928-0744-F98E-7F719239E8D6}"/>
              </a:ext>
            </a:extLst>
          </p:cNvPr>
          <p:cNvSpPr/>
          <p:nvPr/>
        </p:nvSpPr>
        <p:spPr>
          <a:xfrm>
            <a:off x="2260992" y="3318175"/>
            <a:ext cx="2248981" cy="2596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Produces 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JavaDoc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08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-0.08607 -0.07014 " pathEditMode="relative" rAng="0" ptsTypes="AA">
                                      <p:cBhvr>
                                        <p:cTn id="11" dur="7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310" y="-3519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2" presetClass="entr" presetSubtype="9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3C8F5-FA02-3C3B-D8DA-4FD93AA4E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API incubator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B2B35-6758-4AE6-94F8-2F3B29AE6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In VM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JetBrains Mono"/>
              </a:rPr>
              <a:t>args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JetBrains Mono"/>
              </a:rPr>
              <a:t> --add-modules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JetBrains Mono"/>
              </a:rPr>
              <a:t>jdk.incubator.vector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en-US" altLang="en-US" sz="5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526111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99449-D5F8-685B-FD9A-58AEFB6E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Threads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2036F-0508-20E4-D264-B76FA1DA4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Killer feature of Java 21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951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656CF-9F7A-CC46-A154-B05FC35E5B83}"/>
              </a:ext>
            </a:extLst>
          </p:cNvPr>
          <p:cNvSpPr/>
          <p:nvPr/>
        </p:nvSpPr>
        <p:spPr>
          <a:xfrm>
            <a:off x="6645965" y="0"/>
            <a:ext cx="5619304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0847D7-FA05-B38D-146B-D02478F15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dirty="0"/>
              <a:t>How Virtual Threads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37DBD-DA29-0EA8-E819-5B06AFD8D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355" y="2145224"/>
            <a:ext cx="5973106" cy="4809101"/>
          </a:xfrm>
        </p:spPr>
        <p:txBody>
          <a:bodyPr anchor="ctr">
            <a:noAutofit/>
          </a:bodyPr>
          <a:lstStyle/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Virtual threads are plain objects; have no more overhead than Strings or any other Java objects.</a:t>
            </a:r>
          </a:p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Thread scheduler:</a:t>
            </a:r>
          </a:p>
          <a:p>
            <a:pPr lvl="1"/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Mounts virtual thread to a platform thread (aka “carrier thread”.)</a:t>
            </a:r>
          </a:p>
          <a:p>
            <a:pPr lvl="1"/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Parks virtual thread and unmounts it from its carrier at blocking methods, so carrier can be reassigned to other virtual threads.</a:t>
            </a:r>
          </a:p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When blocking method completes or socket returns the bytes, virtual thread is mounted to a new carrier.</a:t>
            </a:r>
          </a:p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Most value is from:</a:t>
            </a:r>
          </a:p>
          <a:p>
            <a:pPr marL="685800" lvl="3">
              <a:spcBef>
                <a:spcPts val="1000"/>
              </a:spcBef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 I/O bound threads</a:t>
            </a:r>
          </a:p>
          <a:p>
            <a:pPr marL="685800" lvl="3">
              <a:spcBef>
                <a:spcPts val="1000"/>
              </a:spcBef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sleep (but not wait) operations.</a:t>
            </a:r>
          </a:p>
          <a:p>
            <a:endParaRPr lang="en-US" sz="2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" name="Picture 4" descr="Pins pinned on a white surface and connecting a black thread">
            <a:extLst>
              <a:ext uri="{FF2B5EF4-FFF2-40B4-BE49-F238E27FC236}">
                <a16:creationId xmlns:a16="http://schemas.microsoft.com/office/drawing/2014/main" id="{B1720AEB-2A7B-E137-1BF0-A8821904CA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41" r="35258" b="-2"/>
          <a:stretch/>
        </p:blipFill>
        <p:spPr>
          <a:xfrm>
            <a:off x="6658717" y="8793"/>
            <a:ext cx="61028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616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1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1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FF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5E831-19A3-1AC2-6165-C9B5D66C4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BA92F-43F4-874A-5F75-9D3DBCBFA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Thread Creation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A9BFEDD-191C-3934-FD24-7E02D8EBDF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855" y="2165985"/>
            <a:ext cx="10743006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 thread1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Thread.startVirtualThread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 thread2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().start(()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 thread3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unstarted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thread3.start();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ExecutorService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Executors.newVirtualThreadPerTaskExecutor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(var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().factory()))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660404BA-68AF-6B72-1614-2417A929B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855" y="2165985"/>
            <a:ext cx="10743006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thread1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startVirtualThread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 thread2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().start(()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 thread3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unstarted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thread3.start();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ExecutorService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Executors.newVirtualThreadPerTaskExecutor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(var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().factory()))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4E20689-8F22-C6CB-BB50-6121A0475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855" y="2165985"/>
            <a:ext cx="10736594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thread1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startVirtualThread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thread2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().start(()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 thread3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unstarted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thread3.start();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ExecutorService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Executors.newVirtualThreadPerTaskExecutor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(var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().factory()))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85AF016-8449-21D3-2391-C4616F6A1B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855" y="2165985"/>
            <a:ext cx="10736594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thread1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startVirtualThread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thread2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().start(()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thread3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unstarted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thread3.start();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ExecutorService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Executors.newVirtualThreadPerTaskExecutor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(var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().factory()))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2368FD07-A13D-62AA-27FD-127F2F8AE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855" y="2165985"/>
            <a:ext cx="10736594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thread1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startVirtualThread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thread2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().start(()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thread3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unstarted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thread3.start();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try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ExecutorService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executor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Executors.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newVirtualThreadPerTaskExecutor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Future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future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executor.submit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try (var executor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Executors.newThreadPerTaskExecutor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Thread.ofVirtual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().factory())) {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   Future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future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 =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executor.submit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(() -&gt; </a:t>
            </a:r>
            <a:r>
              <a:rPr lang="en-US" altLang="en-US" sz="2000" dirty="0" err="1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System.out.println</a:t>
            </a: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("Running in a virtual thread"));</a:t>
            </a:r>
            <a:b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</a:br>
            <a:r>
              <a:rPr lang="en-US" altLang="en-US" sz="2000" dirty="0">
                <a:solidFill>
                  <a:schemeClr val="accent2">
                    <a:lumMod val="50000"/>
                  </a:schemeClr>
                </a:solidFill>
                <a:latin typeface="JetBrains Mono"/>
              </a:rPr>
              <a:t>}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1EEE9D9D-6497-5100-F8C9-C33A560CBC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855" y="2165985"/>
            <a:ext cx="10736594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thread1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startVirtualThread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thread2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().start(()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 thread3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unstarted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thread3.start();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try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ExecutorService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executor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Executors.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newVirtualThreadPerTaskExecutor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Future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future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executor.submit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try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var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Executors.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newThreadPerTaskExecutor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Thread.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ofVirtual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().factory())) {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Future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future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=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executor.submit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(() -&gt;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sz="2000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"Running in a virtual thread"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));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926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PU with binary numbers and blueprint">
            <a:extLst>
              <a:ext uri="{FF2B5EF4-FFF2-40B4-BE49-F238E27FC236}">
                <a16:creationId xmlns:a16="http://schemas.microsoft.com/office/drawing/2014/main" id="{666B7635-31F4-81A9-D8F2-31B148EDF00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7979" r="22079"/>
          <a:stretch/>
        </p:blipFill>
        <p:spPr>
          <a:xfrm>
            <a:off x="6103027" y="10"/>
            <a:ext cx="608897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8F17CE-9182-D173-CC78-6315DC9F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328512"/>
            <a:ext cx="4778387" cy="1628970"/>
          </a:xfrm>
        </p:spPr>
        <p:txBody>
          <a:bodyPr anchor="ctr">
            <a:normAutofit/>
          </a:bodyPr>
          <a:lstStyle/>
          <a:p>
            <a:r>
              <a:rPr lang="en-US" sz="4000" i="1"/>
              <a:t>Pinned </a:t>
            </a:r>
            <a:r>
              <a:rPr lang="en-US" sz="4000"/>
              <a:t>Threads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0A6DD-25D4-0906-1E46-D99B81C5D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61" y="1966024"/>
            <a:ext cx="6019733" cy="4490977"/>
          </a:xfrm>
        </p:spPr>
        <p:txBody>
          <a:bodyPr anchor="ctr"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Pinned threads - virtual threads that remain mounted to their carrier.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When a virtual thread enters a 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synchronized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block, it will remain “pinned” to its carrier. (Even during I/O and sleep 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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Change all “synchronized” to use </a:t>
            </a:r>
            <a:r>
              <a:rPr lang="en-US" sz="2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ReentrantLock</a:t>
            </a: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508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30035C16-56D0-B618-A506-DF3FC9F84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4" y="1724725"/>
            <a:ext cx="4648196" cy="3409348"/>
          </a:xfrm>
          <a:prstGeom prst="rect">
            <a:avLst/>
          </a:prstGeom>
          <a:solidFill>
            <a:srgbClr val="1E1F22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private int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counter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void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increment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synchronized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this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{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Synchronized block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7A7E85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counter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++;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"Counter</a:t>
            </a:r>
            <a:r>
              <a:rPr lang="en-US" altLang="en-US" dirty="0">
                <a:solidFill>
                  <a:srgbClr val="6AAB73"/>
                </a:solidFill>
                <a:latin typeface="JetBrains Mono"/>
              </a:rPr>
              <a:t>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 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+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counter)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}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3D83B0E0-9D63-9938-6385-22FA103BF3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4" y="1697980"/>
            <a:ext cx="4648196" cy="3416320"/>
          </a:xfrm>
          <a:prstGeom prst="rect">
            <a:avLst/>
          </a:prstGeom>
          <a:solidFill>
            <a:srgbClr val="1E1F22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private int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counter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2AACB8"/>
                </a:solidFill>
                <a:effectLst/>
                <a:latin typeface="JetBrains Mono"/>
              </a:rPr>
              <a:t>0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private final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Lock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lock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=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new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ReentrantLock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void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increment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lock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.lock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Acquiring the lock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try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counter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++;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System.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out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.println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"Counter: "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+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counter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}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finally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C77DBB"/>
                </a:solidFill>
                <a:effectLst/>
                <a:latin typeface="JetBrains Mono"/>
              </a:rPr>
              <a:t>lock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.unlock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();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// Releasing the lock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</a:rPr>
              <a:t> 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9F2E6-FA4E-4636-5B8B-104210B19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4688" y="34909"/>
            <a:ext cx="9831512" cy="1293028"/>
          </a:xfrm>
        </p:spPr>
        <p:txBody>
          <a:bodyPr/>
          <a:lstStyle/>
          <a:p>
            <a:pPr algn="ctr"/>
            <a:r>
              <a:rPr lang="en-US" dirty="0"/>
              <a:t>Replace Synchronized with Lock</a:t>
            </a:r>
          </a:p>
        </p:txBody>
      </p:sp>
    </p:spTree>
    <p:extLst>
      <p:ext uri="{BB962C8B-B14F-4D97-AF65-F5344CB8AC3E}">
        <p14:creationId xmlns:p14="http://schemas.microsoft.com/office/powerpoint/2010/main" val="178442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7.40741E-7 L 0.40001 0.00324 " pathEditMode="relative" rAng="0" ptsTypes="AA">
                                      <p:cBhvr>
                                        <p:cTn id="1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000" y="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61EBBE4-0E12-DF10-9145-11D57FB123C7}"/>
              </a:ext>
            </a:extLst>
          </p:cNvPr>
          <p:cNvSpPr txBox="1">
            <a:spLocks/>
          </p:cNvSpPr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Reconfiguring Spring Boot for Virtual Threads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B46B88D1-9A9D-A027-8765-8A5F664A4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732" y="1560946"/>
            <a:ext cx="10417069" cy="224163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2539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-apple-system"/>
              </a:rPr>
              <a:t>Add the following property to your 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application.properties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-apple-system"/>
              </a:rPr>
              <a:t> file: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	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 Unicode MS"/>
              </a:rPr>
              <a:t>	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 Unicode MS"/>
              </a:rPr>
              <a:t>spring.threads.virtual.enabled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=true</a:t>
            </a:r>
            <a:endParaRPr lang="en-US" altLang="en-US" sz="2400" dirty="0"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2299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61EBBE4-0E12-DF10-9145-11D57FB123C7}"/>
              </a:ext>
            </a:extLst>
          </p:cNvPr>
          <p:cNvSpPr txBox="1">
            <a:spLocks/>
          </p:cNvSpPr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Reconfiguring Tomcat for Virtual Threads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FF526E-825C-4B75-9626-922B8038E9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66900" y="1243788"/>
            <a:ext cx="9357498" cy="4370427"/>
          </a:xfrm>
          <a:prstGeom prst="rect">
            <a:avLst/>
          </a:prstGeom>
          <a:solidFill>
            <a:srgbClr val="1E1F2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3AE60"/>
                </a:solidFill>
                <a:effectLst/>
                <a:latin typeface="JetBrains Mono"/>
              </a:rPr>
              <a:t>@Configuration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3AE60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class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AppServerConfig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3AE60"/>
                </a:solidFill>
                <a:effectLst/>
                <a:latin typeface="JetBrains Mono"/>
              </a:rPr>
              <a:t>@Bean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3AE60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3AE60"/>
                </a:solidFill>
                <a:effectLst/>
                <a:latin typeface="JetBrains Mono"/>
              </a:rPr>
              <a:t>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public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TomcatServletWebServerFactory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56A8F5"/>
                </a:solidFill>
                <a:effectLst/>
                <a:latin typeface="JetBrains Mono"/>
              </a:rPr>
              <a:t>tomcatFactory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TomcatServletWebServerFactory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factory =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new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TomcatServletWebServerFactory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factory.addConnectorCustomizers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(connector -&gt;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if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connector.getProtocolHandler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instanceof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AbstractHttp11Protocol&lt;?&gt; protocol) {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protocol.setExecutor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java.util.concurrent.Executors.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newVirtualThreadPerTaskExecutor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());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    }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});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   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return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factory;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   }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}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222EDD6-D007-0819-7839-F539DBAB66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4795598"/>
            <a:ext cx="6226513" cy="1323439"/>
          </a:xfrm>
          <a:prstGeom prst="rect">
            <a:avLst/>
          </a:prstGeom>
          <a:solidFill>
            <a:srgbClr val="1E1F2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&lt;dependency&gt;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     &lt;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groupId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&gt;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org.apache.tomcat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&lt;/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groupId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&gt;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     &lt;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artifactId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tomcat-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catalina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&lt;/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artifactId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&gt;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     &lt;version&gt;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[version-number]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&lt;/version&gt;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  <a:t>&lt;!-- Use your Tomcat version --&gt;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7A7E85"/>
                </a:solidFill>
                <a:effectLst/>
                <a:latin typeface="JetBrains Mono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D5B778"/>
                </a:solidFill>
                <a:effectLst/>
                <a:latin typeface="JetBrains Mono"/>
              </a:rPr>
              <a:t>&lt;/dependency&gt;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</a:rPr>
              <a:t> 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38066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DBF9-7476-766F-1ADB-C71778600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A4608-2A6A-A9E4-7FA0-A9984DA64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javax</a:t>
            </a:r>
            <a:r>
              <a:rPr lang="en-US" dirty="0"/>
              <a:t> to </a:t>
            </a:r>
            <a:r>
              <a:rPr lang="en-US" dirty="0" err="1"/>
              <a:t>jakarta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Sleuth to Micrometer Tracing</a:t>
            </a:r>
          </a:p>
          <a:p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22B44D-9951-EA63-F173-56DE074F6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7" y="2624248"/>
            <a:ext cx="12071287" cy="160950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9398828-261F-C3EA-060B-991B732AE9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2" r="46318"/>
          <a:stretch/>
        </p:blipFill>
        <p:spPr>
          <a:xfrm>
            <a:off x="89642" y="4717484"/>
            <a:ext cx="6940850" cy="90658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BA9F0EC-CB83-8D66-79F2-4D27651A45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93"/>
          <a:stretch/>
        </p:blipFill>
        <p:spPr>
          <a:xfrm>
            <a:off x="6174333" y="4718060"/>
            <a:ext cx="5729783" cy="90825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1675B36-0BB1-505A-FFDF-7B8FB17DEA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9676" y="4692016"/>
            <a:ext cx="466790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99007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3043</TotalTime>
  <Words>2478</Words>
  <Application>Microsoft Office PowerPoint</Application>
  <PresentationFormat>Widescreen</PresentationFormat>
  <Paragraphs>163</Paragraphs>
  <Slides>21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-apple-system</vt:lpstr>
      <vt:lpstr>Aptos</vt:lpstr>
      <vt:lpstr>Arial</vt:lpstr>
      <vt:lpstr>Arial Unicode MS</vt:lpstr>
      <vt:lpstr>Century Gothic</vt:lpstr>
      <vt:lpstr>JetBrains Mono</vt:lpstr>
      <vt:lpstr>Nunito</vt:lpstr>
      <vt:lpstr>Wingdings</vt:lpstr>
      <vt:lpstr>Vapor Trail</vt:lpstr>
      <vt:lpstr>Upgrading Java</vt:lpstr>
      <vt:lpstr>Main features</vt:lpstr>
      <vt:lpstr>Record Classes</vt:lpstr>
      <vt:lpstr>Record Class caveats</vt:lpstr>
      <vt:lpstr>Record Classes can contain implementation</vt:lpstr>
      <vt:lpstr>Sealed classes</vt:lpstr>
      <vt:lpstr>Pattern Matching</vt:lpstr>
      <vt:lpstr>Enhanced Switch</vt:lpstr>
      <vt:lpstr>switch expressions</vt:lpstr>
      <vt:lpstr>TextBlocks</vt:lpstr>
      <vt:lpstr>TextBlocks</vt:lpstr>
      <vt:lpstr>Snippets in JavaDoc</vt:lpstr>
      <vt:lpstr>Vector API incubator</vt:lpstr>
      <vt:lpstr>Virtual Threads</vt:lpstr>
      <vt:lpstr>How Virtual Threads Work</vt:lpstr>
      <vt:lpstr>Virtual Thread Creation</vt:lpstr>
      <vt:lpstr>Pinned Threads</vt:lpstr>
      <vt:lpstr>Replace Synchronized with Lock</vt:lpstr>
      <vt:lpstr>PowerPoint Presentation</vt:lpstr>
      <vt:lpstr>PowerPoint Presentation</vt:lpstr>
      <vt:lpstr>Migrating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Grazi</dc:creator>
  <cp:lastModifiedBy>Victor Grazi</cp:lastModifiedBy>
  <cp:revision>2</cp:revision>
  <dcterms:created xsi:type="dcterms:W3CDTF">2025-04-27T16:07:46Z</dcterms:created>
  <dcterms:modified xsi:type="dcterms:W3CDTF">2025-04-29T19:19:53Z</dcterms:modified>
</cp:coreProperties>
</file>